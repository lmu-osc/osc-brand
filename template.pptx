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svg" ContentType="image/svg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 showSpecialPlsOnTitleSld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algn="l" defTabSz="609585" eaLnBrk="1" hangingPunct="1" latinLnBrk="0" marL="0" rtl="0">
      <a:defRPr kern="1200" sz="2400">
        <a:solidFill>
          <a:schemeClr val="tx1"/>
        </a:solidFill>
        <a:latin typeface="+mn-lt"/>
        <a:ea typeface="+mn-ea"/>
        <a:cs typeface="+mn-cs"/>
      </a:defRPr>
    </a:lvl1pPr>
    <a:lvl2pPr algn="l" defTabSz="609585" eaLnBrk="1" hangingPunct="1" latinLnBrk="0" marL="609585" rtl="0">
      <a:defRPr kern="1200" sz="2400">
        <a:solidFill>
          <a:schemeClr val="tx1"/>
        </a:solidFill>
        <a:latin typeface="+mn-lt"/>
        <a:ea typeface="+mn-ea"/>
        <a:cs typeface="+mn-cs"/>
      </a:defRPr>
    </a:lvl2pPr>
    <a:lvl3pPr algn="l" defTabSz="609585" eaLnBrk="1" hangingPunct="1" latinLnBrk="0" marL="1219170" rtl="0">
      <a:defRPr kern="1200" sz="2400">
        <a:solidFill>
          <a:schemeClr val="tx1"/>
        </a:solidFill>
        <a:latin typeface="+mn-lt"/>
        <a:ea typeface="+mn-ea"/>
        <a:cs typeface="+mn-cs"/>
      </a:defRPr>
    </a:lvl3pPr>
    <a:lvl4pPr algn="l" defTabSz="609585" eaLnBrk="1" hangingPunct="1" latinLnBrk="0" marL="1828754" rtl="0">
      <a:defRPr kern="1200" sz="2400">
        <a:solidFill>
          <a:schemeClr val="tx1"/>
        </a:solidFill>
        <a:latin typeface="+mn-lt"/>
        <a:ea typeface="+mn-ea"/>
        <a:cs typeface="+mn-cs"/>
      </a:defRPr>
    </a:lvl4pPr>
    <a:lvl5pPr algn="l" defTabSz="609585" eaLnBrk="1" hangingPunct="1" latinLnBrk="0" marL="2438339" rtl="0">
      <a:defRPr kern="1200" sz="2400">
        <a:solidFill>
          <a:schemeClr val="tx1"/>
        </a:solidFill>
        <a:latin typeface="+mn-lt"/>
        <a:ea typeface="+mn-ea"/>
        <a:cs typeface="+mn-cs"/>
      </a:defRPr>
    </a:lvl5pPr>
    <a:lvl6pPr algn="l" defTabSz="609585" eaLnBrk="1" hangingPunct="1" latinLnBrk="0" marL="3047924" rtl="0">
      <a:defRPr kern="1200" sz="2400">
        <a:solidFill>
          <a:schemeClr val="tx1"/>
        </a:solidFill>
        <a:latin typeface="+mn-lt"/>
        <a:ea typeface="+mn-ea"/>
        <a:cs typeface="+mn-cs"/>
      </a:defRPr>
    </a:lvl6pPr>
    <a:lvl7pPr algn="l" defTabSz="609585" eaLnBrk="1" hangingPunct="1" latinLnBrk="0" marL="3657509" rtl="0">
      <a:defRPr kern="1200" sz="2400">
        <a:solidFill>
          <a:schemeClr val="tx1"/>
        </a:solidFill>
        <a:latin typeface="+mn-lt"/>
        <a:ea typeface="+mn-ea"/>
        <a:cs typeface="+mn-cs"/>
      </a:defRPr>
    </a:lvl7pPr>
    <a:lvl8pPr algn="l" defTabSz="609585" eaLnBrk="1" hangingPunct="1" latinLnBrk="0" marL="4267093" rtl="0">
      <a:defRPr kern="1200" sz="2400">
        <a:solidFill>
          <a:schemeClr val="tx1"/>
        </a:solidFill>
        <a:latin typeface="+mn-lt"/>
        <a:ea typeface="+mn-ea"/>
        <a:cs typeface="+mn-cs"/>
      </a:defRPr>
    </a:lvl8pPr>
    <a:lvl9pPr algn="l" defTabSz="609585" eaLnBrk="1" hangingPunct="1" latinLnBrk="0" marL="4876678" rtl="0">
      <a:defRPr kern="1200" sz="24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B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478"/>
    <p:restoredTop autoAdjust="0" sz="94693"/>
  </p:normalViewPr>
  <p:slideViewPr>
    <p:cSldViewPr snapToGrid="0" snapToObjects="1">
      <p:cViewPr varScale="1">
        <p:scale>
          <a:sx d="100" n="160"/>
          <a:sy d="100" n="160"/>
        </p:scale>
        <p:origin x="176" y="320"/>
      </p:cViewPr>
      <p:guideLst>
        <p:guide orient="horz" pos="2160"/>
        <p:guide pos="384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98AF039-CAB9-D195-284D-DDC75DFBA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2325642-A61C-3078-0A08-00C186300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8E9BE78-1F37-C669-71F3-F3AC2F8BB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95D47B-82BE-FA8D-B3D0-43C1EF89F98F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E3B72D0-0A08-8401-1102-DC8B6D528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6FDA1F9-F2A3-54A6-D8DB-F94C2CD5C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FE0A592-9ACE-2460-AAA6-BCEAFC660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3166963"/>
            <a:ext cx="10363200" cy="1362075"/>
          </a:xfrm>
        </p:spPr>
        <p:txBody>
          <a:bodyPr anchor="t"/>
          <a:lstStyle>
            <a:lvl1pPr algn="l">
              <a:defRPr sz="3733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1611879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D8B8CE-DBC2-402F-F776-7642508B65A2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56807-87AD-1B61-6635-A4BD69731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8E190-73C6-8A24-D8B9-FC7B080DD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4B39B83-B2B9-A607-75FD-CC4196FDA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4C6C71-8D4C-B542-9542-DE3F868C8BCD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B9C105D-2DC4-B9F4-C1FE-2CAFAE38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159A58-99BB-FD20-30B4-B65A749EE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1EB764C-C70A-BBB6-D634-50E6464DB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8081C7-8D63-717B-E81C-FB6B04A7D54D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8100809-C7AD-AA37-7E54-5E07B4142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80EC85D-71EC-E3EF-4192-AAB31D7B0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473786-B1D7-CA2F-C7C4-09172E08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EB6D96-52B9-49DF-A40F-D3028B8FC97F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221D3-5266-DD6F-83AC-F0960F93C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B8BF7-B98F-B2C1-BBC4-836DAD84D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B4E053-B4BD-4273-20F1-F1F6E73ED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F01941-7737-2934-6952-CCA6B638ACA0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4AD1A-09DE-80F2-211E-50D2602CB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4D603C-1DE0-937A-1F64-CF31D2545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9CFA45-E807-CF9C-9148-21ED45D59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435100"/>
            <a:ext cx="6815667" cy="4691065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13ACB6-AD35-166A-7095-CE78FB7C65DC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D4823E0-4AC4-556E-D341-7EC0B2462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033808-7DA7-BCE5-7841-A080B9791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14B9F3-9BDF-91CE-CDEA-A36877634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D6DC9D-A966-EA21-E561-10535CC769C8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EDD9C9F-3905-36C7-15CB-BACF4406B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B50E993-3E74-7605-4B1C-089FC5994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A2A021D-E01D-7241-598C-56E146616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B907D2-6A5F-9B5B-F5B4-C4FEA6389021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F6E15-AA63-3763-7F86-DACADBA35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9BD05-D78E-3984-8BF6-5DC5BAB2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4583088-CCF2-B670-1C52-71D2A0DA5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4BE907-8A33-EAC8-E40E-042F62D8A32D}"/>
              </a:ext>
            </a:extLst>
          </p:cNvPr>
          <p:cNvSpPr/>
          <p:nvPr userDrawn="1"/>
        </p:nvSpPr>
        <p:spPr>
          <a:xfrm>
            <a:off x="11988800" y="0"/>
            <a:ext cx="203200" cy="6858000"/>
          </a:xfrm>
          <a:prstGeom prst="rect">
            <a:avLst/>
          </a:prstGeom>
          <a:solidFill>
            <a:srgbClr val="008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45B85-27C4-5A2F-EC81-52FBC9699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3EC60-CE7B-06F0-476B-80CB9CE1F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A9AB982-9F02-36B3-80ED-6CFB05C75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media/image1.svg" Type="http://schemas.openxmlformats.org/officeDocument/2006/relationships/imag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84148"/>
            <a:ext cx="10972800" cy="1143000"/>
          </a:xfrm>
          <a:prstGeom prst="rect">
            <a:avLst/>
          </a:prstGeom>
        </p:spPr>
        <p:txBody>
          <a:bodyPr anchor="b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2660973" y="6365491"/>
            <a:ext cx="1818468" cy="298452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r>
              <a:rPr lang="en-US"/>
              <a:t>DATE</a:t>
            </a:r>
            <a:endParaRPr dirty="0"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722678" y="6365489"/>
            <a:ext cx="2746644" cy="298452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dirty="0" lang="en-US"/>
              <a:t>© LMU Open Science Center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9763932" y="6365488"/>
            <a:ext cx="1818468" cy="298453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dirty="0"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0C9838F-E9D5-154A-4897-DCE30A8465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3200" y="6300320"/>
            <a:ext cx="1143429" cy="42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189" eaLnBrk="1" hangingPunct="1" latinLnBrk="0" rtl="0">
        <a:spcBef>
          <a:spcPct val="0"/>
        </a:spcBef>
        <a:buNone/>
        <a:defRPr b="1" i="0" kern="1200" sz="3200">
          <a:solidFill>
            <a:schemeClr val="tx1"/>
          </a:solidFill>
          <a:latin charset="0" panose="020B0004020202020204" pitchFamily="34" typeface="Aptos ExtraBold"/>
          <a:ea charset="0" panose="020B0604030504040204" pitchFamily="34" typeface="Verdana"/>
          <a:cs charset="0" panose="020B0604030504040204" pitchFamily="34" typeface="Verdana"/>
        </a:defRPr>
      </a:lvl1pPr>
    </p:titleStyle>
    <p:bodyStyle>
      <a:lvl1pPr algn="l" defTabSz="457189" eaLnBrk="1" hangingPunct="1" indent="-457189" latinLnBrk="0" marL="457189" rtl="0">
        <a:spcBef>
          <a:spcPct val="20000"/>
        </a:spcBef>
        <a:buFont charset="0" panose="020B0604020202020204" pitchFamily="34" typeface="Arial"/>
        <a:buChar char="•"/>
        <a:defRPr b="0" i="0" kern="1200" sz="2200">
          <a:solidFill>
            <a:schemeClr val="tx1"/>
          </a:solidFill>
          <a:latin charset="0" panose="020B0004020202020204" pitchFamily="34" typeface="Aptos"/>
          <a:ea charset="0" panose="020B0604030504040204" pitchFamily="34" typeface="Verdana"/>
          <a:cs charset="0" panose="020B0604030504040204" pitchFamily="34" typeface="Verdana"/>
        </a:defRPr>
      </a:lvl1pPr>
      <a:lvl2pPr algn="l" defTabSz="457189" eaLnBrk="1" hangingPunct="1" indent="-461422" latinLnBrk="0" marL="768331" rtl="0">
        <a:spcBef>
          <a:spcPct val="20000"/>
        </a:spcBef>
        <a:buFont charset="2" pitchFamily="2" typeface="Wingdings"/>
        <a:buChar char="§"/>
        <a:tabLst/>
        <a:defRPr b="0" i="0" kern="1200" sz="2000">
          <a:solidFill>
            <a:schemeClr val="tx1"/>
          </a:solidFill>
          <a:latin charset="0" panose="020B0004020202020204" pitchFamily="34" typeface="Aptos"/>
          <a:ea charset="0" panose="020B0604030504040204" pitchFamily="34" typeface="Verdana"/>
          <a:cs charset="0" panose="020B0604030504040204" pitchFamily="34" typeface="Verdana"/>
        </a:defRPr>
      </a:lvl2pPr>
      <a:lvl3pPr algn="l" defTabSz="457189" eaLnBrk="1" hangingPunct="1" indent="-452955" latinLnBrk="0" marL="1149322" rtl="0">
        <a:spcBef>
          <a:spcPct val="20000"/>
        </a:spcBef>
        <a:buFont charset="0" panose="02070309020205020404" pitchFamily="49" typeface="Courier New"/>
        <a:buChar char="o"/>
        <a:tabLst/>
        <a:defRPr b="0" i="0" kern="1200" sz="1800">
          <a:solidFill>
            <a:schemeClr val="tx1"/>
          </a:solidFill>
          <a:latin charset="0" panose="020B0004020202020204" pitchFamily="34" typeface="Aptos"/>
          <a:ea charset="0" panose="020B0604030504040204" pitchFamily="34" typeface="Verdana"/>
          <a:cs charset="0" panose="020B0604030504040204" pitchFamily="34" typeface="Verdana"/>
        </a:defRPr>
      </a:lvl3pPr>
      <a:lvl4pPr algn="l" defTabSz="457189" eaLnBrk="1" hangingPunct="1" indent="-461422" latinLnBrk="0" marL="1600160" rtl="0">
        <a:spcBef>
          <a:spcPct val="20000"/>
        </a:spcBef>
        <a:buFont typeface="Arial"/>
        <a:buChar char="–"/>
        <a:tabLst/>
        <a:defRPr b="0" i="0" kern="1200" sz="1600">
          <a:solidFill>
            <a:schemeClr val="tx1"/>
          </a:solidFill>
          <a:latin charset="0" panose="020B0004020202020204" pitchFamily="34" typeface="Aptos"/>
          <a:ea charset="0" panose="020B0604030504040204" pitchFamily="34" typeface="Verdana"/>
          <a:cs charset="0" panose="020B0604030504040204" pitchFamily="34" typeface="Verdana"/>
        </a:defRPr>
      </a:lvl4pPr>
      <a:lvl5pPr algn="l" defTabSz="457189" eaLnBrk="1" hangingPunct="1" indent="-450839" latinLnBrk="0" marL="1989617" rtl="0">
        <a:spcBef>
          <a:spcPct val="20000"/>
        </a:spcBef>
        <a:buFont typeface="Arial"/>
        <a:buChar char="»"/>
        <a:tabLst/>
        <a:defRPr b="0" i="0" kern="1200" sz="1600">
          <a:solidFill>
            <a:schemeClr val="tx1">
              <a:lumMod val="65000"/>
              <a:lumOff val="35000"/>
            </a:schemeClr>
          </a:solidFill>
          <a:latin charset="0" panose="020B0004020202020204" pitchFamily="34" typeface="Aptos"/>
          <a:ea charset="0" panose="020B0604030504040204" pitchFamily="34" typeface="Verdana"/>
          <a:cs charset="0" panose="020B0604030504040204" pitchFamily="34" typeface="Verdana"/>
        </a:defRPr>
      </a:lvl5pPr>
      <a:lvl6pPr algn="l" defTabSz="457189" eaLnBrk="1" hangingPunct="1" indent="-457189" latinLnBrk="0" marL="2743131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189" eaLnBrk="1" hangingPunct="1" indent="-457189" latinLnBrk="0" marL="320032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189" eaLnBrk="1" hangingPunct="1" indent="-457189" latinLnBrk="0" marL="3657509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189" eaLnBrk="1" hangingPunct="1" indent="-457189" latinLnBrk="0" marL="4114697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189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189" eaLnBrk="1" hangingPunct="1" latinLnBrk="0" marL="457189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189" eaLnBrk="1" hangingPunct="1" latinLnBrk="0" marL="914377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189" eaLnBrk="1" hangingPunct="1" latinLnBrk="0" marL="1371566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189" eaLnBrk="1" hangingPunct="1" latinLnBrk="0" marL="1828754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189" eaLnBrk="1" hangingPunct="1" latinLnBrk="0" marL="2285943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189" eaLnBrk="1" hangingPunct="1" latinLnBrk="0" marL="2743131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189" eaLnBrk="1" hangingPunct="1" latinLnBrk="0" marL="320032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189" eaLnBrk="1" hangingPunct="1" latinLnBrk="0" marL="3657509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2" userDrawn="1">
          <p15:clr>
            <a:srgbClr val="F26B43"/>
          </p15:clr>
        </p15:guide>
        <p15:guide id="2" pos="128" userDrawn="1">
          <p15:clr>
            <a:srgbClr val="F26B43"/>
          </p15:clr>
        </p15:guide>
        <p15:guide id="3" orient="horz" pos="4208" userDrawn="1">
          <p15:clr>
            <a:srgbClr val="F26B43"/>
          </p15:clr>
        </p15:guide>
        <p15:guide id="4" pos="7552" userDrawn="1">
          <p15:clr>
            <a:srgbClr val="F26B43"/>
          </p15:clr>
        </p15:guide>
        <p15:guide id="5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example.com" TargetMode="External" /><Relationship Id="rId3" Type="http://schemas.openxmlformats.org/officeDocument/2006/relationships/image" Target="../media/image2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jp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sv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sv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jp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pPr lvl="0" indent="0" marL="0">
              <a:buNone/>
            </a:pPr>
            <a:r>
              <a:rPr/>
              <a:t>LMU Open Science Center Brand Examples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Note that the  Code button above is </a:t>
            </a:r>
            <a:r>
              <a:rPr sz="2000" b="1" i="1"/>
              <a:t>not</a:t>
            </a:r>
            <a:r>
              <a:rPr sz="2000"/>
              <a:t> a default for the </a:t>
            </a:r>
            <a:r>
              <a:rPr sz="2000">
                <a:latin typeface="Courier"/>
              </a:rPr>
              <a:t>osc-brand-html</a:t>
            </a:r>
            <a:r>
              <a:rPr sz="2000"/>
              <a:t> template, but </a:t>
            </a:r>
            <a:r>
              <a:rPr sz="2000">
                <a:latin typeface="Courier"/>
              </a:rPr>
              <a:t>code-tools</a:t>
            </a:r>
            <a:r>
              <a:rPr sz="2000"/>
              <a:t> are specifically activated for this page so you can look at the underlying code easily if desired.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E3B72D0-0A08-8401-1102-DC8B6D528889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dirty="0"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6FDA1F9-F2A3-54A6-D8DB-F94C2CD5C623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dirty="0"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FE0A592-9ACE-2460-AAA6-BCEAFC660CD2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/>
          <a:lstStyle/>
          <a:p>
            <a:pPr lvl="0" indent="0" marL="0">
              <a:buNone/>
            </a:pPr>
            <a:r>
              <a:rPr/>
              <a:t>brand.yml extension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example shows a few Bootstrap components that inherit the palette defined in </a:t>
            </a:r>
            <a:r>
              <a:rPr>
                <a:latin typeface="Courier"/>
              </a:rPr>
              <a:t>brand.yml</a:t>
            </a:r>
            <a:r>
              <a:rPr/>
              <a:t> as well as a customized SCSS file.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Color badges</a:t>
            </a:r>
          </a:p>
          <a:p>
            <a:pPr lvl="0" indent="0" marL="0">
              <a:buNone/>
            </a:pPr>
            <a:r>
              <a:rPr/>
              <a:t>Primary Secondary Success Info Warning Danger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Alerts</a:t>
            </a:r>
          </a:p>
          <a:p>
            <a:pPr lvl="0" indent="0" marL="0">
              <a:buNone/>
            </a:pPr>
            <a:r>
              <a:rPr/>
              <a:t>This is a primary alert using the brand’s primary color.</a:t>
            </a:r>
          </a:p>
          <a:p>
            <a:pPr lvl="0" indent="0" marL="0">
              <a:buNone/>
            </a:pPr>
            <a:r>
              <a:rPr/>
              <a:t>This is a secondary alert using the brand’s secondary color.</a:t>
            </a:r>
          </a:p>
          <a:p>
            <a:pPr lvl="0" indent="0" marL="0">
              <a:buNone/>
            </a:pPr>
            <a:r>
              <a:rPr/>
              <a:t>This is a success alert using the brand’s success color.</a:t>
            </a:r>
          </a:p>
          <a:p>
            <a:pPr lvl="0" indent="0" marL="0">
              <a:buNone/>
            </a:pPr>
            <a:r>
              <a:rPr/>
              <a:t>This is an info alert using the brand’s info color.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Buttons</a:t>
            </a:r>
          </a:p>
          <a:p>
            <a:pPr lvl="0" indent="0" marL="0">
              <a:buNone/>
            </a:pPr>
            <a:r>
              <a:rPr/>
              <a:t>Primary action Secondary action Success Info Warning Danger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Progress</a:t>
            </a:r>
          </a:p>
          <a:p>
            <a:pPr lvl="0" indent="0" marL="0">
              <a:buNone/>
            </a:pPr>
            <a:r>
              <a:rPr/>
              <a:t>Primary 68%</a:t>
            </a:r>
          </a:p>
          <a:p>
            <a:pPr lvl="0" indent="0" marL="0">
              <a:buNone/>
            </a:pPr>
            <a:r>
              <a:rPr/>
              <a:t>Secondary 42%</a:t>
            </a:r>
          </a:p>
          <a:p>
            <a:pPr lvl="0" indent="0" marL="0">
              <a:buNone/>
            </a:pPr>
            <a:r>
              <a:rPr/>
              <a:t>Info 24%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Cards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Inline code and links</a:t>
            </a:r>
          </a:p>
          <a:p>
            <a:pPr lvl="0" indent="0" marL="0">
              <a:buNone/>
            </a:pPr>
            <a:r>
              <a:rPr/>
              <a:t>Here is some inline code: </a:t>
            </a:r>
            <a:r>
              <a:rPr>
                <a:latin typeface="Courier"/>
              </a:rPr>
              <a:t>def foo(x): return x</a:t>
            </a:r>
            <a:r>
              <a:rPr/>
              <a:t> and </a:t>
            </a:r>
            <a:r>
              <a:rPr>
                <a:latin typeface="Courier"/>
              </a:rPr>
              <a:t>y</a:t>
            </a:r>
            <a:r>
              <a:rPr/>
              <a:t> and </a:t>
            </a:r>
            <a:r>
              <a:rPr>
                <a:latin typeface="Courier"/>
              </a:rPr>
              <a:t>z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Here is </a:t>
            </a:r>
            <a:r>
              <a:rPr>
                <a:hlinkClick r:id="rId2"/>
              </a:rPr>
              <a:t>a link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Code block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| echo: true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fibonacci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(n)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 b="1">
                <a:solidFill>
                  <a:srgbClr val="003B4F"/>
                </a:solidFill>
                <a:latin typeface="Courier"/>
              </a:rPr>
              <a:t>if</a:t>
            </a:r>
            <a:r>
              <a:rPr>
                <a:solidFill>
                  <a:srgbClr val="003B4F"/>
                </a:solidFill>
                <a:latin typeface="Courier"/>
              </a:rPr>
              <a:t> (n </a:t>
            </a:r>
            <a:r>
              <a:rPr>
                <a:solidFill>
                  <a:srgbClr val="5E5E5E"/>
                </a:solidFill>
                <a:latin typeface="Courier"/>
              </a:rPr>
              <a:t>&lt;=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} </a:t>
            </a:r>
            <a:r>
              <a:rPr b="1">
                <a:solidFill>
                  <a:srgbClr val="003B4F"/>
                </a:solidFill>
                <a:latin typeface="Courier"/>
              </a:rPr>
              <a:t>else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 b="1">
                <a:solidFill>
                  <a:srgbClr val="003B4F"/>
                </a:solidFill>
                <a:latin typeface="Courier"/>
              </a:rPr>
              <a:t>if</a:t>
            </a:r>
            <a:r>
              <a:rPr>
                <a:solidFill>
                  <a:srgbClr val="003B4F"/>
                </a:solidFill>
                <a:latin typeface="Courier"/>
              </a:rPr>
              <a:t> (n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} </a:t>
            </a:r>
            <a:r>
              <a:rPr b="1">
                <a:solidFill>
                  <a:srgbClr val="003B4F"/>
                </a:solidFill>
                <a:latin typeface="Courier"/>
              </a:rPr>
              <a:t>else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 b="1">
                <a:solidFill>
                  <a:srgbClr val="003B4F"/>
                </a:solidFill>
                <a:latin typeface="Courier"/>
              </a:rPr>
              <a:t>if</a:t>
            </a:r>
            <a:r>
              <a:rPr>
                <a:solidFill>
                  <a:srgbClr val="003B4F"/>
                </a:solidFill>
                <a:latin typeface="Courier"/>
              </a:rPr>
              <a:t> (n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} </a:t>
            </a:r>
            <a:r>
              <a:rPr b="1">
                <a:solidFill>
                  <a:srgbClr val="003B4F"/>
                </a:solidFill>
                <a:latin typeface="Courier"/>
              </a:rPr>
              <a:t>else</a:t>
            </a:r>
            <a:r>
              <a:rPr>
                <a:solidFill>
                  <a:srgbClr val="003B4F"/>
                </a:solidFill>
                <a:latin typeface="Courier"/>
              </a:rPr>
              <a:t>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fibonacci</a:t>
            </a:r>
            <a:r>
              <a:rPr>
                <a:solidFill>
                  <a:srgbClr val="003B4F"/>
                </a:solidFill>
                <a:latin typeface="Courier"/>
              </a:rPr>
              <a:t>(n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fibonacci</a:t>
            </a:r>
            <a:r>
              <a:rPr>
                <a:solidFill>
                  <a:srgbClr val="003B4F"/>
                </a:solidFill>
                <a:latin typeface="Courier"/>
              </a:rPr>
              <a:t>(n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Images</a:t>
            </a:r>
          </a:p>
          <a:p>
            <a:pPr lvl="0" indent="0" marL="0">
              <a:buNone/>
            </a:pPr>
            <a:r>
              <a:rPr/>
              <a:t>Brand images can be accessed with the </a:t>
            </a:r>
            <a:r>
              <a:rPr>
                <a:latin typeface="Courier"/>
              </a:rPr>
              <a:t>{{&lt; brand logo NAME &gt;}}</a:t>
            </a:r>
            <a:r>
              <a:rPr/>
              <a:t> shortcode. Available options include:</a:t>
            </a:r>
          </a:p>
          <a:p>
            <a:pPr lvl="0"/>
            <a:r>
              <a:rPr b="1"/>
              <a:t>Icon, default, dark</a:t>
            </a:r>
            <a:r>
              <a:rPr/>
              <a:t>: these are the underlying image labels. However, shoull use the superset of these:</a:t>
            </a:r>
          </a:p>
          <a:p>
            <a:pPr lvl="0"/>
            <a:r>
              <a:rPr b="1"/>
              <a:t>Small, medium, large</a:t>
            </a:r>
            <a:r>
              <a:rPr/>
              <a:t>: small maps to the icon (or favicon), and medium and large are currently set to use the General Logo (and to swap the colors accordingly with light/dark mode–this is the main motivator to use these labels instead of the other ones!)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Favicon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{{&lt; brand logo small &gt;}}</a:t>
            </a:r>
          </a:p>
        </p:txBody>
      </p:sp>
      <p:pic>
        <p:nvPicPr>
          <p:cNvPr descr="./_extensions/osc-brand/lmu-osc-favicon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816600" y="1435100"/>
            <a:ext cx="4686300" cy="468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D4823E0-4AC4-556E-D341-7EC0B24627F1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dirty="0"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033808-7DA7-BCE5-7841-A080B9791E38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dirty="0"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14B9F3-9BDF-91CE-CDEA-A368776345DA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/_extensions/osc-brand/lmu-osc-favicon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35400" y="1600200"/>
            <a:ext cx="45212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E3B72D0-0A08-8401-1102-DC8B6D528889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dirty="0"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6FDA1F9-F2A3-54A6-D8DB-F94C2CD5C623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dirty="0"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FE0A592-9ACE-2460-AAA6-BCEAFC660CD2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Logo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Medium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{{&lt; brand logo medium &gt;}}</a:t>
            </a:r>
          </a:p>
        </p:txBody>
      </p:sp>
      <p:pic>
        <p:nvPicPr>
          <p:cNvPr descr="./_extensions/osc-brand/lmu-osc-logo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62500" y="2501900"/>
            <a:ext cx="6807200" cy="254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D4823E0-4AC4-556E-D341-7EC0B24627F1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dirty="0"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033808-7DA7-BCE5-7841-A080B9791E38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dirty="0"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14B9F3-9BDF-91CE-CDEA-A368776345DA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/_extensions/osc-brand/lmu-osc-logo-dark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9600" y="1816100"/>
            <a:ext cx="10972800" cy="410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E3B72D0-0A08-8401-1102-DC8B6D528889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dirty="0"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6FDA1F9-F2A3-54A6-D8DB-F94C2CD5C623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dirty="0"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FE0A592-9ACE-2460-AAA6-BCEAFC660CD2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that if you switch to dark mode, the “LMU Open Science Center” text switches to white. This functions not because the actual text color is changing, but because a different image is swapped in. That is, the the </a:t>
            </a:r>
            <a:r>
              <a:rPr>
                <a:latin typeface="Courier"/>
              </a:rPr>
              <a:t>medium</a:t>
            </a:r>
            <a:r>
              <a:rPr/>
              <a:t> logo has a light mode and dark mode image defined.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Large</a:t>
            </a:r>
          </a:p>
          <a:p>
            <a:pPr lvl="0" indent="0" marL="0">
              <a:buNone/>
            </a:pPr>
            <a:r>
              <a:rPr/>
              <a:t>The large logo is essentially the same, but without a dark mode option available at this time.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{{&lt; brand logo large &gt;}}</a:t>
            </a:r>
          </a:p>
        </p:txBody>
      </p:sp>
      <p:pic>
        <p:nvPicPr>
          <p:cNvPr descr="./_extensions/osc-brand/lmu-osc-logo-larg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62500" y="2692400"/>
            <a:ext cx="6807200" cy="2159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D4823E0-4AC4-556E-D341-7EC0B24627F1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dirty="0"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033808-7DA7-BCE5-7841-A080B9791E38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dirty="0"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14B9F3-9BDF-91CE-CDEA-A368776345DA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/_extensions/osc-brand/lmu-osc-logo-larg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9600" y="2120900"/>
            <a:ext cx="10972800" cy="349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E3B72D0-0A08-8401-1102-DC8B6D528889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algn="ctr"/>
            <a:r>
              <a:rPr lang="en-US"/>
              <a:t>DATE</a:t>
            </a:r>
            <a:endParaRPr dirty="0"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6FDA1F9-F2A3-54A6-D8DB-F94C2CD5C623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US"/>
              <a:t>© LMU Open Science Center</a:t>
            </a:r>
            <a:endParaRPr dirty="0"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FE0A592-9ACE-2460-AAA6-BCEAFC660CD2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67</Words>
  <Application>Microsoft Macintosh PowerPoint</Application>
  <PresentationFormat>Widescreen</PresentationFormat>
  <Paragraphs>23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ExtraBold</vt:lpstr>
      <vt:lpstr>Arial</vt:lpstr>
      <vt:lpstr>Calibri</vt:lpstr>
      <vt:lpstr>Courier New</vt:lpstr>
      <vt:lpstr>Wingdings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LMU Open Science Center Brand Examples</dc:title>
  <dc:creator/>
  <cp:keywords/>
  <dcterms:created xsi:type="dcterms:W3CDTF">2026-10-06T08:03:45Z</dcterms:created>
  <dcterms:modified xsi:type="dcterms:W3CDTF">2026-10-06T08:03:45Z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revealjs-plugins">
    <vt:lpwstr/>
  </property>
  <property fmtid="{D5CDD505-2E9C-101B-9397-08002B2CF9AE}" pid="8" name="toc-title">
    <vt:lpwstr>Table of contents</vt:lpwstr>
  </property>
</Properties>
</file>